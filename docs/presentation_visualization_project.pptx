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7616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274320"/>
            <a:ext cx="13716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CO₂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914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Budget Monitor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B4CC"/>
                </a:solidFill>
              </a:rPr>
              <a:t>Visualisierungsprojekt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463040"/>
            <a:ext cx="6858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554480"/>
            <a:ext cx="6492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</a:rPr>
              <a:t>Business Travel
Emissions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01752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</a:rPr>
              <a:t>Einreichung Entwurf Präsentation  ·  18. Mai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38328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</a:rPr>
              <a:t>Fiton Sallhaj  ·  Christopher Zickler  ·  Villavarayasingam Gopigan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Thema &amp; Hauptziel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48640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3F"/>
                </a:solidFill>
              </a:rPr>
              <a:t>THEMA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</a:rPr>
              <a:t>CO₂-Emissionen aus Geschäftsreisen —
operatives Monitoring-Dashboard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5120640" cy="12700"/>
          </a:xfrm>
          <a:prstGeom prst="rect">
            <a:avLst/>
          </a:prstGeom>
          <a:solidFill>
            <a:srgbClr val="D0D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Produktform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</a:rPr>
              <a:t>Interaktives Streamlit-Dashboard (Desktop)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546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Datenbasis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</a:rPr>
              <a:t>Alle Geschäftsreisen 2017–2026
(Flug, Bahn, Bus, Mietwagen)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Update-Zyklus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69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</a:rPr>
              <a:t>Monatlich (kein Echtzeit-Tracking)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943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</a:rPr>
              <a:t>Sekundär: ESG-Reporting (Swiss Art. 964a OR / EU CSRD)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097280"/>
            <a:ext cx="576072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3F"/>
                </a:solidFill>
              </a:rPr>
              <a:t>HAUPTZIEL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Team Heads in &lt; 1 Minute befähigen zu sehen: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194560"/>
            <a:ext cx="457200" cy="457200"/>
          </a:xfrm>
          <a:prstGeom prst="rect">
            <a:avLst/>
          </a:prstGeom>
          <a:solidFill>
            <a:srgbClr val="2D6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19456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6A3F"/>
                </a:solidFill>
              </a:rPr>
              <a:t>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45059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</a:rPr>
              <a:t>Wie viel Budget haben wir noch?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971800"/>
            <a:ext cx="457200" cy="4572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971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97180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6D77"/>
                </a:solidFill>
              </a:rPr>
              <a:t>Ursache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22783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</a:rPr>
              <a:t>Welche Trips treiben unsere Emissionen?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749040"/>
            <a:ext cx="4572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749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74904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</a:rPr>
              <a:t>Handlung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00507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</a:rPr>
              <a:t>Wo können wir konkret sparen?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Zielgruppe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7498079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3F"/>
                </a:solidFill>
              </a:rPr>
              <a:t>PRIMÄRNUTZER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1280160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A202C"/>
                </a:solidFill>
              </a:rPr>
              <a:t>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6002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</a:rPr>
              <a:t>Team Head / BU-Manager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0116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</a:rPr>
              <a:t>z. B. Sarah, Sales BU – 15-köpfiges Team, jährliches CO₂-Budget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71800"/>
            <a:ext cx="7132320" cy="12700"/>
          </a:xfrm>
          <a:prstGeom prst="rect">
            <a:avLst/>
          </a:prstGeom>
          <a:solidFill>
            <a:srgbClr val="D0D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3F"/>
                </a:solidFill>
              </a:rPr>
              <a:t>Frequenz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1546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1–2× pro Monat + ad hoc vor Reisegenehmigungen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661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3F"/>
                </a:solidFill>
              </a:rPr>
              <a:t>Datenaffinität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56616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Gering – braucht klare, handlungsorientierte Aussagen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776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3F"/>
                </a:solidFill>
              </a:rPr>
              <a:t>Hauptschmerz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9776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Kein Überblick bis zum Quartalsbericht – zu spät zum Handeln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891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3F"/>
                </a:solidFill>
              </a:rPr>
              <a:t>Ziel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3891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In 2 Min. wissen: Sind wir im Budget? Wer treibt es?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097280"/>
            <a:ext cx="384048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234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6D77"/>
                </a:solidFill>
              </a:rPr>
              <a:t>SEKUNDÄRNUTZER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6002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</a:rPr>
              <a:t>CSO (Dr. Müller)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8562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</a:rPr>
              <a:t>Aggregierte Monatsberichte
für ESG-Compliance (GRI/ESRS)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231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</a:rPr>
              <a:t>Finance (Marc)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6791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</a:rPr>
              <a:t>CSV-Export für Audit-Trail
&amp; Budgetvalidierung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4160520"/>
            <a:ext cx="3840480" cy="2331720"/>
          </a:xfrm>
          <a:prstGeom prst="rect">
            <a:avLst/>
          </a:prstGeom>
          <a:solidFill>
            <a:srgbClr val="FFF1F0"/>
          </a:solidFill>
          <a:ln w="9525">
            <a:solidFill>
              <a:srgbClr val="FC0C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4297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1C1C"/>
                </a:solidFill>
              </a:rPr>
              <a:t>NICHT IM 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66344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Mitarbeitende (Datenquelle, anonymisiert)
Breite Öffentlichkeit / Externe
Top-Management / Executive Reporting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Dashboard-Struktur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B4CC"/>
                </a:solidFill>
              </a:rPr>
              <a:t>3 Views · Context → Insight →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3749039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3749039" cy="594360"/>
          </a:xfrm>
          <a:prstGeom prst="rect">
            <a:avLst/>
          </a:prstGeom>
          <a:solidFill>
            <a:srgbClr val="2D6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BU-Leitung
(Primär)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9383"/>
            <a:ext cx="137160" cy="137160"/>
          </a:xfrm>
          <a:prstGeom prst="rect">
            <a:avLst/>
          </a:prstGeom>
          <a:solidFill>
            <a:srgbClr val="2D6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Budget-Status KPIs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13431"/>
            <a:ext cx="137160" cy="137160"/>
          </a:xfrm>
          <a:prstGeom prst="rect">
            <a:avLst/>
          </a:prstGeom>
          <a:solidFill>
            <a:srgbClr val="2D6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58567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Actual vs. Budget Chart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97479"/>
            <a:ext cx="137160" cy="137160"/>
          </a:xfrm>
          <a:prstGeom prst="rect">
            <a:avLst/>
          </a:prstGeom>
          <a:solidFill>
            <a:srgbClr val="2D6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42615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Emissionstreiber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81527"/>
            <a:ext cx="137160" cy="137160"/>
          </a:xfrm>
          <a:prstGeom prst="rect">
            <a:avLst/>
          </a:prstGeom>
          <a:solidFill>
            <a:srgbClr val="2D6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026663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Rail-First Chancen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097280"/>
            <a:ext cx="3749039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097280"/>
            <a:ext cx="3749039" cy="59436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1430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CSO Report
(Sekundär)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1929383"/>
            <a:ext cx="137160" cy="13716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1874519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BU-Vergleich aggregiert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26280" y="2313431"/>
            <a:ext cx="137160" cy="13716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2258567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Trend 2017–2026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80" y="2697479"/>
            <a:ext cx="137160" cy="13716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2642615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Budget-Übersicht alle BUs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1097280"/>
            <a:ext cx="3749039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12480" y="1097280"/>
            <a:ext cx="3749039" cy="594360"/>
          </a:xfrm>
          <a:prstGeom prst="rect">
            <a:avLst/>
          </a:prstGeom>
          <a:solidFill>
            <a:srgbClr val="66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11430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Finance Report
(Sekundär)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0" y="1929383"/>
            <a:ext cx="137160" cy="137160"/>
          </a:xfrm>
          <a:prstGeom prst="rect">
            <a:avLst/>
          </a:prstGeom>
          <a:solidFill>
            <a:srgbClr val="66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23960" y="1874519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Kosten-Emissions-Tabelle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95360" y="2313431"/>
            <a:ext cx="137160" cy="137160"/>
          </a:xfrm>
          <a:prstGeom prst="rect">
            <a:avLst/>
          </a:prstGeom>
          <a:solidFill>
            <a:srgbClr val="66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23960" y="2258567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High-cost / High-emission Trips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95360" y="2697479"/>
            <a:ext cx="137160" cy="137160"/>
          </a:xfrm>
          <a:prstGeom prst="rect">
            <a:avLst/>
          </a:prstGeom>
          <a:solidFill>
            <a:srgbClr val="66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23960" y="2642615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CSV-Export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6446520"/>
            <a:ext cx="11612880" cy="274320"/>
          </a:xfrm>
          <a:prstGeom prst="rect">
            <a:avLst/>
          </a:prstGeom>
          <a:solidFill>
            <a:srgbClr val="F4F6F9"/>
          </a:solidFill>
          <a:ln w="9525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</a:rPr>
              <a:t>Filter (Sidebar):  Jahr  ·  Monat  ·  Business Unit  ·  Subunit  ·  CO₂e-Szenario (RFI 2.0 / 2.7)  ·  Transportmodus  ·  Reisezweck  ·  Haul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Visualisierungstypen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66928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09728" cy="2651760"/>
          </a:xfrm>
          <a:prstGeom prst="rect">
            <a:avLst/>
          </a:prstGeom>
          <a:solidFill>
            <a:srgbClr val="2D6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3F"/>
                </a:solidFill>
              </a:rPr>
              <a:t>Grouped Bar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</a:rPr>
              <a:t>Budget vs. Ist-Emissionen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20"/>
            <a:ext cx="5212080" cy="12700"/>
          </a:xfrm>
          <a:prstGeom prst="rect">
            <a:avLst/>
          </a:prstGeom>
          <a:solidFill>
            <a:srgbClr val="D0D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93392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</a:rPr>
              <a:t>Sofortiger Längenvergleich statt Winkelinterpretation (besser als Gauge)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566928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109728" cy="265176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344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D77"/>
                </a:solidFill>
              </a:rPr>
              <a:t>Bar Charts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5544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</a:rPr>
              <a:t>Emissionstreiber (3×)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1874520"/>
            <a:ext cx="5212080" cy="12700"/>
          </a:xfrm>
          <a:prstGeom prst="rect">
            <a:avLst/>
          </a:prstGeom>
          <a:solidFill>
            <a:srgbClr val="D0D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93392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</a:rPr>
              <a:t>Nach Transportmodus, Reisezweck und Haul – zeigt direkt, was zu tun ist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023360"/>
            <a:ext cx="566928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4023360"/>
            <a:ext cx="109728" cy="2651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605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Timeline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4805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</a:rPr>
              <a:t>Emissionsverlauf 2017–2026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800600"/>
            <a:ext cx="5212080" cy="12700"/>
          </a:xfrm>
          <a:prstGeom prst="rect">
            <a:avLst/>
          </a:prstGeom>
          <a:solidFill>
            <a:srgbClr val="D0D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919472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</a:rPr>
              <a:t>Saisonale Muster und Langzeittrend sichtbar machen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023360"/>
            <a:ext cx="566928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4023360"/>
            <a:ext cx="109728" cy="2651760"/>
          </a:xfrm>
          <a:prstGeom prst="rect">
            <a:avLst/>
          </a:prstGeom>
          <a:solidFill>
            <a:srgbClr val="5B21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605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2186"/>
                </a:solidFill>
              </a:rPr>
              <a:t>Tabelle + KPIs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4805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</a:rPr>
              <a:t>Rail-First Chancen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4800600"/>
            <a:ext cx="5212080" cy="12700"/>
          </a:xfrm>
          <a:prstGeom prst="rect">
            <a:avLst/>
          </a:prstGeom>
          <a:solidFill>
            <a:srgbClr val="D0D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919472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</a:rPr>
              <a:t>Flüge mit Zugalternative nach CO₂ gerankt; Kosten und km als Kontext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Aspekte, zu denen wir Feedback erwarten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3749039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3749039" cy="502920"/>
          </a:xfrm>
          <a:prstGeom prst="rect">
            <a:avLst/>
          </a:prstGeom>
          <a:solidFill>
            <a:srgbClr val="2D6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704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Zielgruppe &amp;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Deckt das Dashboard die typischen Fragen von Team Heads ab?
Ist der «Monday Morning»-Check realistisch in &lt; 2 Min.?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097280"/>
            <a:ext cx="3749039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97280"/>
            <a:ext cx="3749039" cy="50292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1704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1887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Narrative Wirksamkeit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73736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Ist der Context→Insight→Action-Fluss intuitiv?
Sind die 3 Views (BU-Leitung / CSO / Finance) klar getrennt?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097280"/>
            <a:ext cx="3749039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097280"/>
            <a:ext cx="3749039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1704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11887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Visualisierungen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73736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Grouped Bar Chart für Budget vs. Actual — intuitiv genug?
Sind 3 separate Treiber-Charts besser als ein Sankey?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977639"/>
            <a:ext cx="3749039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977639"/>
            <a:ext cx="3749039" cy="502920"/>
          </a:xfrm>
          <a:prstGeom prst="rect">
            <a:avLst/>
          </a:prstGeom>
          <a:solidFill>
            <a:srgbClr val="5B21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05079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069079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Unsicherheit (RFI 2.0 vs. 2.7)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617719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Ist die Dual-Szenario-Darstellung verständlich, ohne zu verwirren?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3977639"/>
            <a:ext cx="3749039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60" y="3977639"/>
            <a:ext cx="3749039" cy="5029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05079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4069079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Fehlende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617719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Brauchen Manager Export-Funktionen (CSV/PDF)?
Mobile-Optimierung nötig?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Beispiel: Sarah's Monday Morning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B4CC"/>
                </a:solidFill>
              </a:rPr>
              <a:t>9:10 Uhr — Sarah öffnet das Dashboard. Ziel: Budget-Status in 2 Minuten verstehen.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83464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834640" cy="457200"/>
          </a:xfrm>
          <a:prstGeom prst="rect">
            <a:avLst/>
          </a:prstGeom>
          <a:solidFill>
            <a:srgbClr val="2D6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Landing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6A3F"/>
                </a:solidFill>
              </a:rPr>
              <a:t>42 / 50 t CO₂
(84%)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834640"/>
            <a:ext cx="2468880" cy="12700"/>
          </a:xfrm>
          <a:prstGeom prst="rect">
            <a:avLst/>
          </a:prstGeom>
          <a:solidFill>
            <a:srgbClr val="D0D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97180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</a:rPr>
              <a:t>Große Kennzahl sofort sichtbar · Farbe: Grün = Im Budget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097280"/>
            <a:ext cx="283464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097280"/>
            <a:ext cx="2834640" cy="4572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1430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Drill-down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6916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6D77"/>
                </a:solidFill>
              </a:rPr>
              <a:t>Langstrecken
= Top-Treiber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834640"/>
            <a:ext cx="2468880" cy="12700"/>
          </a:xfrm>
          <a:prstGeom prst="rect">
            <a:avLst/>
          </a:prstGeom>
          <a:solidFill>
            <a:srgbClr val="D0D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97180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</a:rPr>
              <a:t>Emissionstreiber-Tab: Transport, Zweck, Haul · Balkendiagramm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097280"/>
            <a:ext cx="283464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097280"/>
            <a:ext cx="283464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1430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16916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Rail-First
Chancen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2834640"/>
            <a:ext cx="2468880" cy="12700"/>
          </a:xfrm>
          <a:prstGeom prst="rect">
            <a:avLst/>
          </a:prstGeom>
          <a:solidFill>
            <a:srgbClr val="D0D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97180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</a:rPr>
              <a:t>Routen mit Zugalternative nach CO₂ gerankt · Sarah sieht Top-Route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64040" y="1097280"/>
            <a:ext cx="283464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64040" y="1097280"/>
            <a:ext cx="2834640" cy="457200"/>
          </a:xfrm>
          <a:prstGeom prst="rect">
            <a:avLst/>
          </a:prstGeom>
          <a:solidFill>
            <a:srgbClr val="2D6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11430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Ergebnis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16916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6A3F"/>
                </a:solidFill>
              </a:rPr>
              <a:t>Entscheidung
in 2 Min.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0" y="2834640"/>
            <a:ext cx="2468880" cy="12700"/>
          </a:xfrm>
          <a:prstGeom prst="rect">
            <a:avLst/>
          </a:prstGeom>
          <a:solidFill>
            <a:srgbClr val="D0D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297180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</a:rPr>
              <a:t>Sarah priorisiert essenzielle Reisen · nächste Buchung: Zug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Nächste Schritte &amp; Kontakt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713232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3F"/>
                </a:solidFill>
              </a:rPr>
              <a:t>NÄCHSTE SCHRITTE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411480" cy="411480"/>
          </a:xfrm>
          <a:prstGeom prst="rect">
            <a:avLst/>
          </a:prstGeom>
          <a:solidFill>
            <a:srgbClr val="2D6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55648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02C"/>
                </a:solidFill>
              </a:rPr>
              <a:t>MVP-Testing mit 5 Team Heads (Usability-Tests)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411480" cy="411480"/>
          </a:xfrm>
          <a:prstGeom prst="rect">
            <a:avLst/>
          </a:prstGeom>
          <a:solidFill>
            <a:srgbClr val="2D6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146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78608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02C"/>
                </a:solidFill>
              </a:rPr>
              <a:t>Integration von Export-Funktionen (CSV / PDF)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37560"/>
            <a:ext cx="411480" cy="411480"/>
          </a:xfrm>
          <a:prstGeom prst="rect">
            <a:avLst/>
          </a:prstGeom>
          <a:solidFill>
            <a:srgbClr val="2D6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337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401568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02C"/>
                </a:solidFill>
              </a:rPr>
              <a:t>Evaluation und Iteration basierend auf Feedback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411480" cy="411480"/>
          </a:xfrm>
          <a:prstGeom prst="rect">
            <a:avLst/>
          </a:prstGeom>
          <a:solidFill>
            <a:srgbClr val="2D6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1605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24528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02C"/>
                </a:solidFill>
              </a:rPr>
              <a:t>Finalisierung &amp; Abgabe bis 1. Juni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1097280"/>
            <a:ext cx="420624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12344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3F"/>
                </a:solidFill>
              </a:rPr>
              <a:t>TEAM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1691640"/>
            <a:ext cx="3657600" cy="1097280"/>
          </a:xfrm>
          <a:prstGeom prst="rect">
            <a:avLst/>
          </a:prstGeom>
          <a:solidFill>
            <a:srgbClr val="F4F6F9"/>
          </a:solidFill>
          <a:ln w="9525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18288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</a:rPr>
              <a:t>Fiton Sallhaj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1945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</a:rPr>
              <a:t>Project Lead &amp; Storytelling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3017520"/>
            <a:ext cx="3657600" cy="1097280"/>
          </a:xfrm>
          <a:prstGeom prst="rect">
            <a:avLst/>
          </a:prstGeom>
          <a:solidFill>
            <a:srgbClr val="F4F6F9"/>
          </a:solidFill>
          <a:ln w="9525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31546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</a:rPr>
              <a:t>Christopher Zickler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5204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</a:rPr>
              <a:t>Data Engineering &amp; CO₂-Berechnungen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4343400"/>
            <a:ext cx="3657600" cy="1097280"/>
          </a:xfrm>
          <a:prstGeom prst="rect">
            <a:avLst/>
          </a:prstGeom>
          <a:solidFill>
            <a:srgbClr val="F4F6F9"/>
          </a:solidFill>
          <a:ln w="9525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44805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</a:rPr>
              <a:t>Villavarayasingam Gopigan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8463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</a:rPr>
              <a:t>Visualization &amp; UI/UX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