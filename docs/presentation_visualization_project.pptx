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1713BA-662A-1E4A-BD89-322362F3BA3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D61C2C-5C3E-B246-BD2F-F61500AAC8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881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D61C2C-5C3E-B246-BD2F-F61500AAC87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59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Geschäftsreisen CO₂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CCCC"/>
                </a:solidFill>
              </a:rPr>
              <a:t>Operatives Steuerungstool für BU-Leitungen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CCCCCC"/>
                </a:solidFill>
              </a:rPr>
              <a:t>Autor: </a:t>
            </a:r>
            <a:r>
              <a:rPr lang="en-US" sz="1400" b="0" i="0" dirty="0" err="1">
                <a:solidFill>
                  <a:srgbClr val="CCCCCC"/>
                </a:solidFill>
              </a:rPr>
              <a:t>Sallahaj</a:t>
            </a:r>
            <a:r>
              <a:rPr lang="en-US" sz="1400" b="0" i="0" dirty="0">
                <a:solidFill>
                  <a:srgbClr val="CCCCCC"/>
                </a:solidFill>
              </a:rPr>
              <a:t> </a:t>
            </a:r>
            <a:r>
              <a:rPr lang="en-US" sz="1400" b="0" i="0" dirty="0" err="1">
                <a:solidFill>
                  <a:srgbClr val="CCCCCC"/>
                </a:solidFill>
              </a:rPr>
              <a:t>Fiton</a:t>
            </a:r>
            <a:r>
              <a:rPr lang="en-US" sz="1400" b="0" i="0" dirty="0">
                <a:solidFill>
                  <a:srgbClr val="CCCCCC"/>
                </a:solidFill>
              </a:rPr>
              <a:t>, Zickler </a:t>
            </a:r>
            <a:r>
              <a:rPr sz="1400" b="0" i="0" dirty="0">
                <a:solidFill>
                  <a:srgbClr val="CCCCCC"/>
                </a:solidFill>
              </a:rPr>
              <a:t>Christopher</a:t>
            </a:r>
            <a:r>
              <a:rPr lang="en-US" sz="1400" b="0" i="0" dirty="0">
                <a:solidFill>
                  <a:srgbClr val="CCCCCC"/>
                </a:solidFill>
              </a:rPr>
              <a:t>, </a:t>
            </a:r>
            <a:r>
              <a:rPr lang="en-US" sz="1400" b="0" i="0" dirty="0" err="1">
                <a:solidFill>
                  <a:srgbClr val="CCCCCC"/>
                </a:solidFill>
              </a:rPr>
              <a:t>Villavarayasingam</a:t>
            </a:r>
            <a:r>
              <a:rPr lang="en-US" sz="1400" b="0" i="0" dirty="0">
                <a:solidFill>
                  <a:srgbClr val="CCCCCC"/>
                </a:solidFill>
              </a:rPr>
              <a:t> </a:t>
            </a:r>
            <a:r>
              <a:rPr lang="en-US" sz="1400" b="0" i="0" dirty="0" err="1">
                <a:solidFill>
                  <a:srgbClr val="CCCCCC"/>
                </a:solidFill>
              </a:rPr>
              <a:t>Gopigan</a:t>
            </a:r>
            <a:r>
              <a:rPr lang="en-US" sz="1400" b="0" i="0" dirty="0">
                <a:solidFill>
                  <a:srgbClr val="CCCCCC"/>
                </a:solidFill>
              </a:rPr>
              <a:t> </a:t>
            </a:r>
            <a:r>
              <a:rPr sz="1400" b="0" i="0" dirty="0">
                <a:solidFill>
                  <a:srgbClr val="CCCCCC"/>
                </a:solidFill>
              </a:rPr>
              <a:t>  |  FS26 – Data Science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3A46"/>
                </a:solidFill>
              </a:rPr>
              <a:t>Mai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5303520"/>
            <a:ext cx="1645920" cy="10972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0" y="53492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63A46"/>
                </a:solidFill>
              </a:rPr>
              <a:t>25'527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5852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Reisen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5303520"/>
            <a:ext cx="1645920" cy="10972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0" y="53492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63A46"/>
                </a:solidFill>
              </a:rPr>
              <a:t>10'828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5852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CO₂e RFI 2.7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5303520"/>
            <a:ext cx="1645920" cy="10972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07040" y="53492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63A46"/>
                </a:solidFill>
              </a:rPr>
              <a:t>18.9 Mio. CHF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58521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Reisekosten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Kontext &amp; Problemstellung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5303520" cy="51206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5303520" cy="41148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Das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Unternehmen hat CO₂-Netto-Null-Ziel bis 2050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BU-Leiter kennen ihren Budget-Status nicht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Finance-Reports kommen quartalsweise – zu spät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862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Keine Sicht auf Emissionstreiber (Trips, Routen, Reisemittel)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634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Keine Entscheidungsgrundlage für Reisegenehmigungen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005840"/>
            <a:ext cx="5943600" cy="51206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43600" y="1005840"/>
            <a:ext cx="5943600" cy="41148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10241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Die Lösung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55448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Interaktives Streamlit-Dashboard für Team Heads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33172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Monatlich aktualisierter Budget-Status je Subunit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10896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Drill-down auf Trips, Routen und Reisemittel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88620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Rail-First Empfehlungen: Flüge ersetzbar durch Zug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466344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▪  Zwei Emissionsszenarien: RFI 2.0 und RFI 2.7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Projektziele &amp; Primäre Persona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5486400" cy="51206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5486400" cy="41148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Primäre Projektziele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00200"/>
            <a:ext cx="36576" cy="73152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Sichtbarkeit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476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CO₂-Budget-Status jederzeit einsehbar (mind. monatlich)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97480"/>
            <a:ext cx="36576" cy="73152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697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Verständnis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4495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Schnell erkennen, was Emissionen treibt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794760"/>
            <a:ext cx="36576" cy="73152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7947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Handlung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1422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Konkrete Massnahmen zur Budgeteinhaltung ableiten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892040"/>
            <a:ext cx="36576" cy="73152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8920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Usability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23951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Ohne Datenkenntnisse auf Desktop bedienbar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005840"/>
            <a:ext cx="5577840" cy="51206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1005840"/>
            <a:ext cx="5577840" cy="41148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10241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Primäre Persona: Sarah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6002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3A46"/>
                </a:solidFill>
              </a:rPr>
              <a:t>Rolle: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160020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BU-Leiterin Vertrieb, 15-köpfiges 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5146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3A46"/>
                </a:solidFill>
              </a:rPr>
              <a:t>Ziel: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51460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CO₂-Budget im Blick behalten, Reisen genehmigen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4290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3A46"/>
                </a:solidFill>
              </a:rPr>
              <a:t>Expertise: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2900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Hohe Domänenkenntnis, niedrige Data Literacy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3434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3A46"/>
                </a:solidFill>
              </a:rPr>
              <a:t>Nutzung: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34340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1–2× pro Monat + ad-hoc vor Reisegenehmigungen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2578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3A46"/>
                </a:solidFill>
              </a:rPr>
              <a:t>Pain Point: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5780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Quartalsberichte von Finance kommen zu spät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Datenbasis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Zwei Datensätze aus traveldata-export.xlsx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11521440" cy="11887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3A46"/>
                </a:solidFill>
              </a:rPr>
              <a:t>travel_data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25'527 Reiseabschnitte, 2017–2026, 27 Spalten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600200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Verkehrsmittel · Business Unit · Subunit · Reisezweck · CO₂e RFI 2.0 &amp; 2.7 · Kosten CHF · km · Zugalternative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880360"/>
            <a:ext cx="11521440" cy="11887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3A46"/>
                </a:solidFill>
              </a:rPr>
              <a:t>co2_budgets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100 Zeilen – jährliche CO₂-Budgets je Subunit (2020–2025)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971800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subunit · year · co2_budget_t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343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Emissionen nach Verkehrsmittel (RFI 2.7)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754880"/>
            <a:ext cx="9875520" cy="347472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59" y="47731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Verkehrsmittel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7731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Reisen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7731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CO₂e RFI 2.7 (t)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47731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Kosten CHF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102352"/>
            <a:ext cx="9875520" cy="384048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59" y="513892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Flug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51389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18'757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59" y="513892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10'781.0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59" y="513892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17'943'056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51389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45'751'625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486400"/>
            <a:ext cx="987552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59" y="552297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Zug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52297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4'505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59" y="552297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13.8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552297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665'427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552297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2'293'060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870448"/>
            <a:ext cx="9875520" cy="384048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59" y="590702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Mietwagen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5907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1'411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59" y="590702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26.5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590702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243'760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590702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331'710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6254496"/>
            <a:ext cx="987552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59" y="629107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Bus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51760" y="629107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854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23359" y="629107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6.7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59" y="629107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39'638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629107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246'340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Das Dashboard – BU-Leitung Ansicht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140CFF-0B31-00A5-6FCB-3FE05FF4D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0"/>
            <a:ext cx="11237976" cy="57537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Dashboard-Funktionen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05840"/>
            <a:ext cx="5669280" cy="16459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5669280" cy="347472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051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Context-Panel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44475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Budget-Status auf einen Blick: Budgetverbrauch %, Saldo, CO₂e, Anzahl Reisen, Rail-First Chancen. Bullet-Chart zeigt Ist vs. Budget visuell.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834640"/>
            <a:ext cx="5669280" cy="16459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2834640"/>
            <a:ext cx="5669280" cy="347472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2880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Insights: Budgetstatus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27355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Actual vs Budget Balkendiagramm je Subunit. Tabelle mit Ist CO₂e, Reisen, Kosten, Budget-Rest und Status.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663440"/>
            <a:ext cx="5669280" cy="16459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" y="4663440"/>
            <a:ext cx="5669280" cy="347472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" y="470915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Insights: Treiber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510235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Emissionen nach Reisezweck, Transportmittel und Top-Routen. Identifiziert die grössten Verursacher.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79" y="1005840"/>
            <a:ext cx="5669280" cy="16459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79" y="1005840"/>
            <a:ext cx="5669280" cy="347472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4807" y="1051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Insights: Rail-First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144475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Liste der Flüge, für die eine Zugalternative verfügbar ist. Zeigt potenzielle CO₂-Einsparung je Route.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79" y="2834640"/>
            <a:ext cx="5669280" cy="16459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55079" y="2834640"/>
            <a:ext cx="5669280" cy="347472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64807" y="2880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Insights: Trend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7" y="327355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Monatliche CO₂e-Zeitreihe im Jahresvergleich. Saisonale Muster und Entwicklung erkennbar.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79" y="4663440"/>
            <a:ext cx="5669280" cy="16459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79" y="4663440"/>
            <a:ext cx="5669280" cy="347472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4807" y="470915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Filter &amp; Views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7" y="510235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BU-Leitung / CSO Report / Finance Report. Filter: BU, Subunit, Jahr, Monat, RFI-Szenario (2.0 / 2.7).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Technologie-Stack &amp;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3200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347472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3474720" cy="32004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7101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3.x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Programmiersprache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234440"/>
            <a:ext cx="347472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234440"/>
            <a:ext cx="3474720" cy="32004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59" y="127101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Streamlit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16459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Web-App Framework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234440"/>
            <a:ext cx="347472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234440"/>
            <a:ext cx="3474720" cy="32004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127101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Altair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459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Deklarative Visualisierung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06040"/>
            <a:ext cx="347472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2606040"/>
            <a:ext cx="3474720" cy="32004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264261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Pandas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0175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Datenverarbeitung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606040"/>
            <a:ext cx="347472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0" y="2606040"/>
            <a:ext cx="3474720" cy="32004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59" y="264261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uv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30175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Paket- &amp; Env-Management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606040"/>
            <a:ext cx="347472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0" y="2606040"/>
            <a:ext cx="3474720" cy="32004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0" y="264261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GitHub 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0175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CI/CD &amp; Deployment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3434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006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▪  Live-URL: https://ds24-6-vdss-project-geschaeftsreisen.streamlit.app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257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▪  Lokaler Start: uv run streamlit run deployment/geschaeftsreisen_dashboard.py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7150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▪  Daten: deployment/data/travel_data.csv &amp; co2_budgets.csv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1722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3A46"/>
                </a:solidFill>
              </a:rPr>
              <a:t>▪  Hinweis: Dashboard für Dunkelmodus optimiert (Einstellungen → Theme → Dark)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Fazit &amp; Ausblick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5486400" cy="51663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486400" cy="41148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Erreichtes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✓  Team Heads können Budget-Status in &lt;1 Minute beantworten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3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✓  Emissionstreiber (Trip, Route, Modus) auf einen Blick erkennbar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✓  Rail-First Empfehlungen direkt umsetzbar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✓  Zwei RFI-Szenarien machen Unsicherheit transparent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8347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✓  Dashboard ohne Datenkenntnisse bedienbar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960120"/>
            <a:ext cx="5486400" cy="51663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26480" y="960120"/>
            <a:ext cx="5486400" cy="411480"/>
          </a:xfrm>
          <a:prstGeom prst="rect">
            <a:avLst/>
          </a:prstGeom>
          <a:solidFill>
            <a:srgbClr val="E6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9360" y="98755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Möglicher Ausblick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Echtzeit-Anbindung an Buchungssysteme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37743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Automatisierte monatliche Daten-Updates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24612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Prädiktive Budget-Prognose (ML)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11480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Mobile-Optimierung für unterwegs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98347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Erweiterung auf externe Geschäftspartner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609</Words>
  <Application>Microsoft Macintosh PowerPoint</Application>
  <PresentationFormat>Custom</PresentationFormat>
  <Paragraphs>124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Chris Zickler</cp:lastModifiedBy>
  <cp:revision>2</cp:revision>
  <dcterms:created xsi:type="dcterms:W3CDTF">2013-01-27T09:14:16Z</dcterms:created>
  <dcterms:modified xsi:type="dcterms:W3CDTF">2026-05-31T21:31:49Z</dcterms:modified>
  <cp:category/>
</cp:coreProperties>
</file>